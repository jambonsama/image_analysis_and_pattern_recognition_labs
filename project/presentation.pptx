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80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 autoAdjust="0"/>
    <p:restoredTop sz="86427" autoAdjust="0"/>
  </p:normalViewPr>
  <p:slideViewPr>
    <p:cSldViewPr snapToGrid="0">
      <p:cViewPr varScale="1">
        <p:scale>
          <a:sx n="96" d="100"/>
          <a:sy n="96" d="100"/>
        </p:scale>
        <p:origin x="384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72123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539" y="1475652"/>
            <a:ext cx="6380922" cy="1106418"/>
          </a:xfrm>
        </p:spPr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en-CH" dirty="0"/>
              <a:t>HSV </a:t>
            </a:r>
            <a:r>
              <a:rPr lang="fr-CH" dirty="0" err="1"/>
              <a:t>separation</a:t>
            </a:r>
            <a:r>
              <a:rPr lang="en-CH" dirty="0"/>
              <a:t> 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</a:t>
            </a:r>
            <a:r>
              <a:rPr lang="en-CH" dirty="0"/>
              <a:t>-&gt;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</a:t>
            </a:r>
            <a:r>
              <a:rPr lang="en-CH" dirty="0"/>
              <a:t>b</a:t>
            </a:r>
            <a:r>
              <a:rPr lang="fr-CH" dirty="0" err="1"/>
              <a:t>lack</a:t>
            </a:r>
            <a:r>
              <a:rPr lang="fr-CH" dirty="0"/>
              <a:t> </a:t>
            </a:r>
            <a:r>
              <a:rPr lang="en-CH" dirty="0"/>
              <a:t>-&gt; </a:t>
            </a:r>
            <a:r>
              <a:rPr lang="fr-CH" dirty="0"/>
              <a:t>digits and </a:t>
            </a:r>
            <a:r>
              <a:rPr lang="en-CH" dirty="0"/>
              <a:t>math operators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B0633-5F77-4F87-93C0-D37F663C319A}"/>
              </a:ext>
            </a:extLst>
          </p:cNvPr>
          <p:cNvSpPr txBox="1"/>
          <p:nvPr/>
        </p:nvSpPr>
        <p:spPr>
          <a:xfrm>
            <a:off x="546652" y="3277723"/>
            <a:ext cx="5479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 err="1"/>
              <a:t>orphology</a:t>
            </a:r>
            <a:r>
              <a:rPr lang="en-CH" dirty="0"/>
              <a:t> to clean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Connected component (region growing) for tracking</a:t>
            </a:r>
          </a:p>
          <a:p>
            <a:r>
              <a:rPr lang="en-CH" dirty="0"/>
              <a:t>=&gt; (</a:t>
            </a:r>
            <a:r>
              <a:rPr lang="en-CH" dirty="0" err="1"/>
              <a:t>x,y</a:t>
            </a:r>
            <a:r>
              <a:rPr lang="en-CH" dirty="0"/>
              <a:t>) robot position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1D7DA-8458-4551-B76C-B08EF09046FD}"/>
              </a:ext>
            </a:extLst>
          </p:cNvPr>
          <p:cNvSpPr txBox="1"/>
          <p:nvPr/>
        </p:nvSpPr>
        <p:spPr>
          <a:xfrm>
            <a:off x="6698973" y="3277723"/>
            <a:ext cx="39756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/>
              <a:t>o</a:t>
            </a:r>
            <a:r>
              <a:rPr lang="fr-CH" dirty="0"/>
              <a:t>l</a:t>
            </a:r>
            <a:r>
              <a:rPr lang="en-CH" dirty="0"/>
              <a:t>o</a:t>
            </a:r>
            <a:r>
              <a:rPr lang="fr-CH" dirty="0"/>
              <a:t>g</a:t>
            </a:r>
            <a:r>
              <a:rPr lang="en-CH" dirty="0"/>
              <a:t>y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f</a:t>
            </a:r>
            <a:r>
              <a:rPr lang="en-CH" dirty="0"/>
              <a:t>u</a:t>
            </a:r>
            <a:r>
              <a:rPr lang="fr-CH" dirty="0"/>
              <a:t>s</a:t>
            </a:r>
            <a:r>
              <a:rPr lang="en-CH" dirty="0"/>
              <a:t>e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c</a:t>
            </a:r>
            <a:r>
              <a:rPr lang="en-CH" dirty="0"/>
              <a:t>h</a:t>
            </a:r>
            <a:r>
              <a:rPr lang="fr-CH" dirty="0"/>
              <a:t>a</a:t>
            </a:r>
            <a:r>
              <a:rPr lang="en-CH" dirty="0"/>
              <a:t>r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i</a:t>
            </a:r>
            <a:r>
              <a:rPr lang="en-CH" dirty="0"/>
              <a:t>n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o</a:t>
            </a:r>
            <a:r>
              <a:rPr lang="en-CH" dirty="0"/>
              <a:t>b</a:t>
            </a:r>
            <a:r>
              <a:rPr lang="fr-CH" dirty="0"/>
              <a:t>j</a:t>
            </a:r>
            <a:r>
              <a:rPr lang="en-CH" dirty="0"/>
              <a:t>e</a:t>
            </a:r>
            <a:r>
              <a:rPr lang="fr-CH" dirty="0"/>
              <a:t>c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t</a:t>
            </a:r>
            <a:r>
              <a:rPr lang="fr-CH" dirty="0"/>
              <a:t>o</a:t>
            </a:r>
            <a:r>
              <a:rPr lang="en-CH" dirty="0"/>
              <a:t>u</a:t>
            </a:r>
            <a:r>
              <a:rPr lang="fr-CH" dirty="0"/>
              <a:t>r</a:t>
            </a:r>
            <a:r>
              <a:rPr lang="en-CH" dirty="0"/>
              <a:t>s </a:t>
            </a:r>
            <a:r>
              <a:rPr lang="fr-CH" dirty="0"/>
              <a:t>a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/>
              <a:t>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 err="1"/>
              <a:t>i</a:t>
            </a:r>
            <a:r>
              <a:rPr lang="fr-CH" dirty="0"/>
              <a:t>n</a:t>
            </a:r>
            <a:r>
              <a:rPr lang="en-CH" dirty="0"/>
              <a:t>g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x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i</a:t>
            </a:r>
            <a:r>
              <a:rPr lang="en-CH" dirty="0"/>
              <a:t>s</a:t>
            </a:r>
            <a:r>
              <a:rPr lang="fr-CH" dirty="0"/>
              <a:t>o</a:t>
            </a:r>
            <a:r>
              <a:rPr lang="en-CH" dirty="0"/>
              <a:t>l</a:t>
            </a:r>
            <a:r>
              <a:rPr lang="fr-CH" dirty="0"/>
              <a:t>a</a:t>
            </a:r>
            <a:r>
              <a:rPr lang="en-CH" dirty="0"/>
              <a:t>t</a:t>
            </a:r>
            <a:r>
              <a:rPr lang="fr-CH" dirty="0"/>
              <a:t>e</a:t>
            </a:r>
            <a:r>
              <a:rPr lang="en-CH" dirty="0"/>
              <a:t>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Range to discriminate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Inertia axes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 redressing (</a:t>
            </a: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d</a:t>
            </a:r>
            <a:r>
              <a:rPr lang="en-CH" dirty="0"/>
              <a:t> 180°)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MNIST normalization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CNN / </a:t>
            </a:r>
            <a:r>
              <a:rPr lang="fr-CH" dirty="0"/>
              <a:t>c</a:t>
            </a:r>
            <a:r>
              <a:rPr lang="en-CH" dirty="0" err="1"/>
              <a:t>ustom</a:t>
            </a:r>
            <a:r>
              <a:rPr lang="en-CH" dirty="0"/>
              <a:t> classification</a:t>
            </a:r>
          </a:p>
          <a:p>
            <a:r>
              <a:rPr lang="en-CH" dirty="0"/>
              <a:t>=&gt; </a:t>
            </a:r>
            <a:r>
              <a:rPr lang="fr-CH" dirty="0"/>
              <a:t>C</a:t>
            </a:r>
            <a:r>
              <a:rPr lang="en-CH" dirty="0" err="1"/>
              <a:t>haracters</a:t>
            </a:r>
            <a:r>
              <a:rPr lang="en-CH" dirty="0"/>
              <a:t> (</a:t>
            </a:r>
            <a:r>
              <a:rPr lang="en-CH" dirty="0" err="1"/>
              <a:t>x,y</a:t>
            </a:r>
            <a:r>
              <a:rPr lang="en-CH" dirty="0"/>
              <a:t>) position</a:t>
            </a:r>
            <a:r>
              <a:rPr lang="fr-CH" dirty="0"/>
              <a:t>s</a:t>
            </a:r>
            <a:r>
              <a:rPr lang="en-CH" dirty="0"/>
              <a:t> and classification</a:t>
            </a:r>
            <a:r>
              <a:rPr lang="fr-CH" dirty="0"/>
              <a:t>s</a:t>
            </a:r>
            <a:r>
              <a:rPr lang="en-CH" dirty="0"/>
              <a:t> (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s</a:t>
            </a:r>
            <a:r>
              <a:rPr lang="en-CH" dirty="0"/>
              <a:t>t)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45B05C-056C-41E0-9E09-AEA22A39B8E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68850" y="2582070"/>
            <a:ext cx="1517950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9871A5-EDE2-48A6-9C2B-BB583DA2EE5D}"/>
              </a:ext>
            </a:extLst>
          </p:cNvPr>
          <p:cNvCxnSpPr>
            <a:endCxn id="6" idx="0"/>
          </p:cNvCxnSpPr>
          <p:nvPr/>
        </p:nvCxnSpPr>
        <p:spPr>
          <a:xfrm flipH="1">
            <a:off x="3286539" y="2582070"/>
            <a:ext cx="1345096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B95D34-BA8A-4344-9AFA-D3737BDC4E58}"/>
              </a:ext>
            </a:extLst>
          </p:cNvPr>
          <p:cNvSpPr txBox="1"/>
          <p:nvPr/>
        </p:nvSpPr>
        <p:spPr>
          <a:xfrm>
            <a:off x="546652" y="4936923"/>
            <a:ext cx="5479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</a:t>
            </a:r>
            <a:r>
              <a:rPr lang="en-CH" dirty="0"/>
              <a:t>t </a:t>
            </a:r>
            <a:r>
              <a:rPr lang="fr-CH" dirty="0"/>
              <a:t>e</a:t>
            </a:r>
            <a:r>
              <a:rPr lang="en-CH" dirty="0"/>
              <a:t>a</a:t>
            </a:r>
            <a:r>
              <a:rPr lang="fr-CH" dirty="0"/>
              <a:t>c</a:t>
            </a:r>
            <a:r>
              <a:rPr lang="en-CH" dirty="0"/>
              <a:t>h </a:t>
            </a:r>
            <a:r>
              <a:rPr lang="fr-CH" dirty="0"/>
              <a:t>f</a:t>
            </a:r>
            <a:r>
              <a:rPr lang="en-CH" dirty="0" err="1"/>
              <a:t>rame</a:t>
            </a:r>
            <a:r>
              <a:rPr lang="en-CH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R</a:t>
            </a:r>
            <a:r>
              <a:rPr lang="en-CH" dirty="0" err="1"/>
              <a:t>obot</a:t>
            </a:r>
            <a:r>
              <a:rPr lang="en-CH" dirty="0"/>
              <a:t>-chars distance discrimination =&gt;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If character is ‘=‘ sign =&gt;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 err="1"/>
              <a:t>mula</a:t>
            </a:r>
            <a:r>
              <a:rPr lang="en-CH" dirty="0"/>
              <a:t>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Info display on the 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1DA620-EA68-42C2-8DBA-C50AE3A0141E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>
            <a:off x="3286539" y="4201053"/>
            <a:ext cx="0" cy="735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97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pic>
        <p:nvPicPr>
          <p:cNvPr id="7" name="Content Placeholder 6" descr="A screen shot of a computer&#10;&#10;Description automatically generated">
            <a:extLst>
              <a:ext uri="{FF2B5EF4-FFF2-40B4-BE49-F238E27FC236}">
                <a16:creationId xmlns:a16="http://schemas.microsoft.com/office/drawing/2014/main" id="{11BDB1CA-D17B-4B45-93FB-23C220156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2170" y="1520264"/>
            <a:ext cx="4421630" cy="313911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775FAC-A868-4456-BD8F-EE3F2D47C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425" y="5087110"/>
            <a:ext cx="7159487" cy="84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OCR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8861"/>
            <a:ext cx="5180013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sz="2400" dirty="0"/>
              <a:t>Digits :</a:t>
            </a:r>
          </a:p>
          <a:p>
            <a:r>
              <a:rPr lang="en-CH" sz="2400" dirty="0"/>
              <a:t>CNN based on LeNet-5 </a:t>
            </a:r>
            <a:endParaRPr lang="fr-CH" sz="2400" dirty="0"/>
          </a:p>
          <a:p>
            <a:r>
              <a:rPr lang="fr-CH" sz="2400" dirty="0"/>
              <a:t>Training on MNIST</a:t>
            </a:r>
            <a:r>
              <a:rPr lang="en-CH" sz="2400" dirty="0"/>
              <a:t> with 0° and 180°</a:t>
            </a:r>
          </a:p>
          <a:p>
            <a:endParaRPr lang="fr-CH" sz="2400" dirty="0"/>
          </a:p>
          <a:p>
            <a:endParaRPr lang="en-US" sz="2400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92918" y="1818861"/>
            <a:ext cx="4323522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pPr marL="0" indent="0">
              <a:buNone/>
            </a:pPr>
            <a:r>
              <a:rPr lang="en-CH" dirty="0"/>
              <a:t>Criteria :</a:t>
            </a:r>
            <a:endParaRPr lang="fr-CH" dirty="0"/>
          </a:p>
          <a:p>
            <a:pPr marL="457200" lvl="1" indent="0">
              <a:buNone/>
            </a:pPr>
            <a:r>
              <a:rPr lang="fr-CH" dirty="0" err="1"/>
              <a:t>Number</a:t>
            </a:r>
            <a:r>
              <a:rPr lang="fr-CH" dirty="0"/>
              <a:t> of contours</a:t>
            </a:r>
          </a:p>
          <a:p>
            <a:pPr lvl="2"/>
            <a:r>
              <a:rPr lang="en-CH" dirty="0"/>
              <a:t>3 =&gt; ‘/’</a:t>
            </a:r>
            <a:endParaRPr lang="fr-CH" dirty="0"/>
          </a:p>
          <a:p>
            <a:pPr lvl="2"/>
            <a:r>
              <a:rPr lang="en-CH" dirty="0"/>
              <a:t>2 =&gt; ‘=‘ 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W</a:t>
            </a:r>
            <a:r>
              <a:rPr lang="en-CH" dirty="0" err="1"/>
              <a:t>idth</a:t>
            </a:r>
            <a:r>
              <a:rPr lang="en-CH" dirty="0"/>
              <a:t> / height r</a:t>
            </a:r>
            <a:r>
              <a:rPr lang="fr-CH" dirty="0" err="1"/>
              <a:t>atio</a:t>
            </a:r>
            <a:r>
              <a:rPr lang="fr-CH" dirty="0"/>
              <a:t> of single contour</a:t>
            </a:r>
            <a:r>
              <a:rPr lang="en-CH" dirty="0"/>
              <a:t> : </a:t>
            </a:r>
          </a:p>
          <a:p>
            <a:pPr lvl="2"/>
            <a:r>
              <a:rPr lang="en-CH" dirty="0"/>
              <a:t>&lt; 2 =&gt; ‘-’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/>
              <a:t>&lt; 0</a:t>
            </a:r>
            <a:r>
              <a:rPr lang="en-CH" dirty="0"/>
              <a:t>.</a:t>
            </a:r>
            <a:r>
              <a:rPr lang="fr-CH" dirty="0"/>
              <a:t>1</a:t>
            </a:r>
            <a:r>
              <a:rPr lang="en-CH" dirty="0"/>
              <a:t> =&gt; ‘*’</a:t>
            </a:r>
            <a:endParaRPr lang="fr-CH" dirty="0"/>
          </a:p>
          <a:p>
            <a:pPr lvl="2"/>
            <a:r>
              <a:rPr lang="en-CH" dirty="0"/>
              <a:t>&gt; 0.1 =&gt; ‘+’</a:t>
            </a: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00610-1EDC-4CAA-ADB8-4665FF405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231" y="3617844"/>
            <a:ext cx="6310878" cy="11728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1CC42CE-2A8D-448F-A03C-19E5BB997063}"/>
              </a:ext>
            </a:extLst>
          </p:cNvPr>
          <p:cNvSpPr txBox="1"/>
          <p:nvPr/>
        </p:nvSpPr>
        <p:spPr>
          <a:xfrm>
            <a:off x="695739" y="4979504"/>
            <a:ext cx="1110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200" dirty="0"/>
              <a:t>co</a:t>
            </a:r>
            <a:r>
              <a:rPr lang="fr-CH" sz="1200" dirty="0"/>
              <a:t>n</a:t>
            </a:r>
            <a:r>
              <a:rPr lang="en-CH" sz="1200" dirty="0"/>
              <a:t>v (5,5)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102E63-7FF8-432C-91AD-D659385A0A46}"/>
              </a:ext>
            </a:extLst>
          </p:cNvPr>
          <p:cNvSpPr txBox="1"/>
          <p:nvPr/>
        </p:nvSpPr>
        <p:spPr>
          <a:xfrm>
            <a:off x="1489736" y="4979504"/>
            <a:ext cx="1533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max pool (2,2)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2F93-08A5-4DAF-8B91-0FF9C7658E3D}"/>
              </a:ext>
            </a:extLst>
          </p:cNvPr>
          <p:cNvSpPr txBox="1"/>
          <p:nvPr/>
        </p:nvSpPr>
        <p:spPr>
          <a:xfrm>
            <a:off x="3118445" y="4979504"/>
            <a:ext cx="1110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v (3,3)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A1A113-E619-435C-A3D8-DD0390B217DE}"/>
              </a:ext>
            </a:extLst>
          </p:cNvPr>
          <p:cNvSpPr txBox="1"/>
          <p:nvPr/>
        </p:nvSpPr>
        <p:spPr>
          <a:xfrm>
            <a:off x="4256257" y="4989443"/>
            <a:ext cx="1533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max pool (2,2)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7C527-B32A-45D2-81D7-E106BDBAEA06}"/>
              </a:ext>
            </a:extLst>
          </p:cNvPr>
          <p:cNvSpPr txBox="1"/>
          <p:nvPr/>
        </p:nvSpPr>
        <p:spPr>
          <a:xfrm>
            <a:off x="6480278" y="5071837"/>
            <a:ext cx="41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F</a:t>
            </a:r>
            <a:r>
              <a:rPr lang="en-CH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7133E4-F684-469B-AF7E-CC11BFB37836}"/>
              </a:ext>
            </a:extLst>
          </p:cNvPr>
          <p:cNvSpPr txBox="1"/>
          <p:nvPr/>
        </p:nvSpPr>
        <p:spPr>
          <a:xfrm>
            <a:off x="5720009" y="5027132"/>
            <a:ext cx="41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F</a:t>
            </a:r>
            <a:r>
              <a:rPr lang="en-CH" dirty="0"/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C9685E-1258-496F-9A19-E7071CBEDC0E}"/>
              </a:ext>
            </a:extLst>
          </p:cNvPr>
          <p:cNvSpPr txBox="1"/>
          <p:nvPr/>
        </p:nvSpPr>
        <p:spPr>
          <a:xfrm>
            <a:off x="6047373" y="5164170"/>
            <a:ext cx="411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F</a:t>
            </a:r>
            <a:r>
              <a:rPr lang="en-CH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28191"/>
            <a:ext cx="5157787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Digits :</a:t>
            </a:r>
          </a:p>
          <a:p>
            <a:r>
              <a:rPr lang="en-US" dirty="0"/>
              <a:t>9</a:t>
            </a:r>
            <a:r>
              <a:rPr lang="en-CH" dirty="0"/>
              <a:t>8</a:t>
            </a:r>
            <a:r>
              <a:rPr lang="en-US" dirty="0"/>
              <a:t>% </a:t>
            </a:r>
            <a:r>
              <a:rPr lang="en-CH" dirty="0"/>
              <a:t> accuracy on MNIST (0° and 180°)</a:t>
            </a:r>
          </a:p>
          <a:p>
            <a:r>
              <a:rPr lang="en-CH" dirty="0"/>
              <a:t>100% accuracy on the 6 digits of the provided video</a:t>
            </a:r>
          </a:p>
          <a:p>
            <a:r>
              <a:rPr lang="en-CH" dirty="0"/>
              <a:t>Has little statistical significance for generalization to other videos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8191"/>
            <a:ext cx="5183188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r>
              <a:rPr lang="en-CH" dirty="0"/>
              <a:t>100% accuracy</a:t>
            </a:r>
            <a:r>
              <a:rPr lang="fr-CH" dirty="0"/>
              <a:t> </a:t>
            </a:r>
            <a:r>
              <a:rPr lang="en-CH" dirty="0"/>
              <a:t>on the 4 math operators of the provided video</a:t>
            </a:r>
          </a:p>
          <a:p>
            <a:r>
              <a:rPr lang="en-CH" dirty="0"/>
              <a:t>Has little significance for generalization to other videos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3BF773-D3EB-4253-8175-4FD65B767A4F}"/>
              </a:ext>
            </a:extLst>
          </p:cNvPr>
          <p:cNvSpPr txBox="1"/>
          <p:nvPr/>
        </p:nvSpPr>
        <p:spPr>
          <a:xfrm>
            <a:off x="1317909" y="5580509"/>
            <a:ext cx="953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/>
              <a:t>A</a:t>
            </a:r>
            <a:r>
              <a:rPr lang="en-CH" sz="2400" dirty="0"/>
              <a:t>l</a:t>
            </a:r>
            <a:r>
              <a:rPr lang="fr-CH" sz="2400" dirty="0"/>
              <a:t>t</a:t>
            </a:r>
            <a:r>
              <a:rPr lang="en-CH" sz="2400" dirty="0"/>
              <a:t>e</a:t>
            </a:r>
            <a:r>
              <a:rPr lang="fr-CH" sz="2400" dirty="0"/>
              <a:t>r</a:t>
            </a:r>
            <a:r>
              <a:rPr lang="en-CH" sz="2400" dirty="0"/>
              <a:t>n</a:t>
            </a:r>
            <a:r>
              <a:rPr lang="fr-CH" sz="2400" dirty="0"/>
              <a:t>a</a:t>
            </a:r>
            <a:r>
              <a:rPr lang="en-CH" sz="2400" dirty="0"/>
              <a:t>t</a:t>
            </a:r>
            <a:r>
              <a:rPr lang="fr-CH" sz="2400" dirty="0"/>
              <a:t>i</a:t>
            </a:r>
            <a:r>
              <a:rPr lang="en-CH" sz="2400" dirty="0"/>
              <a:t>n</a:t>
            </a:r>
            <a:r>
              <a:rPr lang="fr-CH" sz="2400" dirty="0"/>
              <a:t>g</a:t>
            </a:r>
            <a:r>
              <a:rPr lang="en-CH" sz="2400" dirty="0"/>
              <a:t> between the two of them because we know we start with digit.</a:t>
            </a:r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447</Words>
  <Application>Microsoft Office PowerPoint</Application>
  <PresentationFormat>Widescreen</PresentationFormat>
  <Paragraphs>74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Claire Meyer</cp:lastModifiedBy>
  <cp:revision>92</cp:revision>
  <dcterms:created xsi:type="dcterms:W3CDTF">2020-04-20T06:54:30Z</dcterms:created>
  <dcterms:modified xsi:type="dcterms:W3CDTF">2020-05-28T06:49:34Z</dcterms:modified>
</cp:coreProperties>
</file>